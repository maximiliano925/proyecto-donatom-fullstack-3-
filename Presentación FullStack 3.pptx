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9B8E24-5615-4D19-A892-17E3DE67942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84F08BF-2CFC-4E71-A909-1305B957C1CA}">
      <dgm:prSet/>
      <dgm:spPr/>
      <dgm:t>
        <a:bodyPr/>
        <a:lstStyle/>
        <a:p>
          <a:r>
            <a:rPr lang="es-MX" b="1"/>
            <a:t>Escalabilidad y modularidad:</a:t>
          </a:r>
          <a:r>
            <a:rPr lang="es-MX"/>
            <a:t> cada microservicio puede crecer de forma independiente, asegurando estabilidad en escenarios de alta demanda.</a:t>
          </a:r>
          <a:endParaRPr lang="en-US"/>
        </a:p>
      </dgm:t>
    </dgm:pt>
    <dgm:pt modelId="{36841355-7A72-450A-BD33-AE8996545C99}" type="parTrans" cxnId="{D4C02324-9950-4FC8-A380-424D557560D6}">
      <dgm:prSet/>
      <dgm:spPr/>
      <dgm:t>
        <a:bodyPr/>
        <a:lstStyle/>
        <a:p>
          <a:endParaRPr lang="en-US"/>
        </a:p>
      </dgm:t>
    </dgm:pt>
    <dgm:pt modelId="{1225DED9-CD28-4BF5-95AA-3ABDAC19F9D4}" type="sibTrans" cxnId="{D4C02324-9950-4FC8-A380-424D557560D6}">
      <dgm:prSet/>
      <dgm:spPr/>
      <dgm:t>
        <a:bodyPr/>
        <a:lstStyle/>
        <a:p>
          <a:endParaRPr lang="en-US"/>
        </a:p>
      </dgm:t>
    </dgm:pt>
    <dgm:pt modelId="{98DEE8EC-C301-4BDB-BD42-AD743C362541}">
      <dgm:prSet/>
      <dgm:spPr/>
      <dgm:t>
        <a:bodyPr/>
        <a:lstStyle/>
        <a:p>
          <a:r>
            <a:rPr lang="es-MX" b="1"/>
            <a:t>Transparencia y trazabilidad:</a:t>
          </a:r>
          <a:r>
            <a:rPr lang="es-MX"/>
            <a:t> todas las donaciones se registran y auditan en tiempo real, reforzando la confianza social.</a:t>
          </a:r>
          <a:endParaRPr lang="en-US"/>
        </a:p>
      </dgm:t>
    </dgm:pt>
    <dgm:pt modelId="{7A6106C4-FCC2-4B18-91CF-CB2D32F9EB6D}" type="parTrans" cxnId="{46607C38-367C-4D1C-953B-31BE098EFEC7}">
      <dgm:prSet/>
      <dgm:spPr/>
      <dgm:t>
        <a:bodyPr/>
        <a:lstStyle/>
        <a:p>
          <a:endParaRPr lang="en-US"/>
        </a:p>
      </dgm:t>
    </dgm:pt>
    <dgm:pt modelId="{1ED71850-A328-4EFE-85A6-B1118F0FB89C}" type="sibTrans" cxnId="{46607C38-367C-4D1C-953B-31BE098EFEC7}">
      <dgm:prSet/>
      <dgm:spPr/>
      <dgm:t>
        <a:bodyPr/>
        <a:lstStyle/>
        <a:p>
          <a:endParaRPr lang="en-US"/>
        </a:p>
      </dgm:t>
    </dgm:pt>
    <dgm:pt modelId="{D943342A-CDCC-4CEF-90B7-7B0387DB77F4}">
      <dgm:prSet/>
      <dgm:spPr/>
      <dgm:t>
        <a:bodyPr/>
        <a:lstStyle/>
        <a:p>
          <a:r>
            <a:rPr lang="es-MX" b="1"/>
            <a:t>Frontend responsivo + backend seguro:</a:t>
          </a:r>
          <a:r>
            <a:rPr lang="es-MX"/>
            <a:t> accesibilidad desde cualquier dispositivo y protección multicapa de datos sensibles.</a:t>
          </a:r>
          <a:endParaRPr lang="en-US"/>
        </a:p>
      </dgm:t>
    </dgm:pt>
    <dgm:pt modelId="{30244DEC-C47D-4C0C-B4DF-4F3125907B85}" type="parTrans" cxnId="{E55BFFB3-4260-4034-B6AE-BF9BA79DEE67}">
      <dgm:prSet/>
      <dgm:spPr/>
      <dgm:t>
        <a:bodyPr/>
        <a:lstStyle/>
        <a:p>
          <a:endParaRPr lang="en-US"/>
        </a:p>
      </dgm:t>
    </dgm:pt>
    <dgm:pt modelId="{E671B1AE-A475-433D-947B-D5B4C17722CA}" type="sibTrans" cxnId="{E55BFFB3-4260-4034-B6AE-BF9BA79DEE67}">
      <dgm:prSet/>
      <dgm:spPr/>
      <dgm:t>
        <a:bodyPr/>
        <a:lstStyle/>
        <a:p>
          <a:endParaRPr lang="en-US"/>
        </a:p>
      </dgm:t>
    </dgm:pt>
    <dgm:pt modelId="{CBF5CB72-8BA2-471A-97FF-595D673BD636}">
      <dgm:prSet/>
      <dgm:spPr/>
      <dgm:t>
        <a:bodyPr/>
        <a:lstStyle/>
        <a:p>
          <a:r>
            <a:rPr lang="es-MX" b="1"/>
            <a:t>CI/CD y pruebas automatizadas:</a:t>
          </a:r>
          <a:r>
            <a:rPr lang="es-MX"/>
            <a:t> garantizan calidad continua y reducen riesgos en producción.</a:t>
          </a:r>
          <a:endParaRPr lang="en-US"/>
        </a:p>
      </dgm:t>
    </dgm:pt>
    <dgm:pt modelId="{99C7F764-693A-46B1-A7F9-A1101D9DF7E4}" type="parTrans" cxnId="{94F73709-7556-4515-AF15-D339BD7398EC}">
      <dgm:prSet/>
      <dgm:spPr/>
      <dgm:t>
        <a:bodyPr/>
        <a:lstStyle/>
        <a:p>
          <a:endParaRPr lang="en-US"/>
        </a:p>
      </dgm:t>
    </dgm:pt>
    <dgm:pt modelId="{2B9E766E-A392-4571-8387-F4DB0B571DFF}" type="sibTrans" cxnId="{94F73709-7556-4515-AF15-D339BD7398EC}">
      <dgm:prSet/>
      <dgm:spPr/>
      <dgm:t>
        <a:bodyPr/>
        <a:lstStyle/>
        <a:p>
          <a:endParaRPr lang="en-US"/>
        </a:p>
      </dgm:t>
    </dgm:pt>
    <dgm:pt modelId="{C806189A-C995-461D-97D3-18E50B8DAD73}">
      <dgm:prSet/>
      <dgm:spPr/>
      <dgm:t>
        <a:bodyPr/>
        <a:lstStyle/>
        <a:p>
          <a:r>
            <a:rPr lang="es-MX" b="1"/>
            <a:t>Cumplimiento normativo y resiliencia:</a:t>
          </a:r>
          <a:r>
            <a:rPr lang="es-MX"/>
            <a:t> alineación con estándares legales y capacidad de recuperación automática ante fallos.</a:t>
          </a:r>
          <a:endParaRPr lang="en-US"/>
        </a:p>
      </dgm:t>
    </dgm:pt>
    <dgm:pt modelId="{BD09460E-EBC3-407F-9AE2-E78D182099ED}" type="parTrans" cxnId="{713C8369-412B-4299-A95A-C3A71CF38138}">
      <dgm:prSet/>
      <dgm:spPr/>
      <dgm:t>
        <a:bodyPr/>
        <a:lstStyle/>
        <a:p>
          <a:endParaRPr lang="en-US"/>
        </a:p>
      </dgm:t>
    </dgm:pt>
    <dgm:pt modelId="{065748D8-114D-448C-9A13-A4B289740AA8}" type="sibTrans" cxnId="{713C8369-412B-4299-A95A-C3A71CF38138}">
      <dgm:prSet/>
      <dgm:spPr/>
      <dgm:t>
        <a:bodyPr/>
        <a:lstStyle/>
        <a:p>
          <a:endParaRPr lang="en-US"/>
        </a:p>
      </dgm:t>
    </dgm:pt>
    <dgm:pt modelId="{77E4D509-9AD1-49A9-8612-C3B944A798BF}">
      <dgm:prSet/>
      <dgm:spPr/>
      <dgm:t>
        <a:bodyPr/>
        <a:lstStyle/>
        <a:p>
          <a:r>
            <a:rPr lang="es-MX" b="1"/>
            <a:t>Impacto social e innovación futura:</a:t>
          </a:r>
          <a:r>
            <a:rPr lang="es-MX"/>
            <a:t> optimiza la coordinación de ayuda y abre la puerta a integrar IA y blockchain.</a:t>
          </a:r>
          <a:endParaRPr lang="en-US"/>
        </a:p>
      </dgm:t>
    </dgm:pt>
    <dgm:pt modelId="{AEF3EB8A-8340-46A2-ADE4-4D9F552E71C7}" type="parTrans" cxnId="{649933E4-410D-40BA-A026-0D8A7FCB7D70}">
      <dgm:prSet/>
      <dgm:spPr/>
      <dgm:t>
        <a:bodyPr/>
        <a:lstStyle/>
        <a:p>
          <a:endParaRPr lang="en-US"/>
        </a:p>
      </dgm:t>
    </dgm:pt>
    <dgm:pt modelId="{C6EA4861-98F6-421E-ACF5-341DC85C4631}" type="sibTrans" cxnId="{649933E4-410D-40BA-A026-0D8A7FCB7D70}">
      <dgm:prSet/>
      <dgm:spPr/>
      <dgm:t>
        <a:bodyPr/>
        <a:lstStyle/>
        <a:p>
          <a:endParaRPr lang="en-US"/>
        </a:p>
      </dgm:t>
    </dgm:pt>
    <dgm:pt modelId="{E5A3764B-6565-40BA-8B3C-3961212480EC}" type="pres">
      <dgm:prSet presAssocID="{A29B8E24-5615-4D19-A892-17E3DE679428}" presName="Name0" presStyleCnt="0">
        <dgm:presLayoutVars>
          <dgm:dir/>
          <dgm:resizeHandles val="exact"/>
        </dgm:presLayoutVars>
      </dgm:prSet>
      <dgm:spPr/>
    </dgm:pt>
    <dgm:pt modelId="{39D20780-A994-44A6-88CB-57A14E651DAC}" type="pres">
      <dgm:prSet presAssocID="{F84F08BF-2CFC-4E71-A909-1305B957C1CA}" presName="node" presStyleLbl="node1" presStyleIdx="0" presStyleCnt="6">
        <dgm:presLayoutVars>
          <dgm:bulletEnabled val="1"/>
        </dgm:presLayoutVars>
      </dgm:prSet>
      <dgm:spPr/>
    </dgm:pt>
    <dgm:pt modelId="{D0085836-05FB-438E-8A75-E8566D924BDE}" type="pres">
      <dgm:prSet presAssocID="{1225DED9-CD28-4BF5-95AA-3ABDAC19F9D4}" presName="sibTrans" presStyleLbl="sibTrans1D1" presStyleIdx="0" presStyleCnt="5"/>
      <dgm:spPr/>
    </dgm:pt>
    <dgm:pt modelId="{495581DD-D33A-436B-9511-3BF2E8F67A18}" type="pres">
      <dgm:prSet presAssocID="{1225DED9-CD28-4BF5-95AA-3ABDAC19F9D4}" presName="connectorText" presStyleLbl="sibTrans1D1" presStyleIdx="0" presStyleCnt="5"/>
      <dgm:spPr/>
    </dgm:pt>
    <dgm:pt modelId="{9E56147B-C523-4379-83C9-BF843A3BB5D9}" type="pres">
      <dgm:prSet presAssocID="{98DEE8EC-C301-4BDB-BD42-AD743C362541}" presName="node" presStyleLbl="node1" presStyleIdx="1" presStyleCnt="6">
        <dgm:presLayoutVars>
          <dgm:bulletEnabled val="1"/>
        </dgm:presLayoutVars>
      </dgm:prSet>
      <dgm:spPr/>
    </dgm:pt>
    <dgm:pt modelId="{65416AE4-14E7-4BFE-B09B-5372F6280CB7}" type="pres">
      <dgm:prSet presAssocID="{1ED71850-A328-4EFE-85A6-B1118F0FB89C}" presName="sibTrans" presStyleLbl="sibTrans1D1" presStyleIdx="1" presStyleCnt="5"/>
      <dgm:spPr/>
    </dgm:pt>
    <dgm:pt modelId="{41DCABCC-0EED-475C-AF2D-BFF6FE3884F9}" type="pres">
      <dgm:prSet presAssocID="{1ED71850-A328-4EFE-85A6-B1118F0FB89C}" presName="connectorText" presStyleLbl="sibTrans1D1" presStyleIdx="1" presStyleCnt="5"/>
      <dgm:spPr/>
    </dgm:pt>
    <dgm:pt modelId="{BEDF5346-2E6C-4A49-AE7C-F56D8C87BBE2}" type="pres">
      <dgm:prSet presAssocID="{D943342A-CDCC-4CEF-90B7-7B0387DB77F4}" presName="node" presStyleLbl="node1" presStyleIdx="2" presStyleCnt="6">
        <dgm:presLayoutVars>
          <dgm:bulletEnabled val="1"/>
        </dgm:presLayoutVars>
      </dgm:prSet>
      <dgm:spPr/>
    </dgm:pt>
    <dgm:pt modelId="{BD07E330-D91B-46A0-AC61-860F1CF22319}" type="pres">
      <dgm:prSet presAssocID="{E671B1AE-A475-433D-947B-D5B4C17722CA}" presName="sibTrans" presStyleLbl="sibTrans1D1" presStyleIdx="2" presStyleCnt="5"/>
      <dgm:spPr/>
    </dgm:pt>
    <dgm:pt modelId="{868C091A-0443-4627-B0CA-E59B5A5825E4}" type="pres">
      <dgm:prSet presAssocID="{E671B1AE-A475-433D-947B-D5B4C17722CA}" presName="connectorText" presStyleLbl="sibTrans1D1" presStyleIdx="2" presStyleCnt="5"/>
      <dgm:spPr/>
    </dgm:pt>
    <dgm:pt modelId="{0D1D8C9A-CADC-4049-A593-A359AAFA29F5}" type="pres">
      <dgm:prSet presAssocID="{CBF5CB72-8BA2-471A-97FF-595D673BD636}" presName="node" presStyleLbl="node1" presStyleIdx="3" presStyleCnt="6">
        <dgm:presLayoutVars>
          <dgm:bulletEnabled val="1"/>
        </dgm:presLayoutVars>
      </dgm:prSet>
      <dgm:spPr/>
    </dgm:pt>
    <dgm:pt modelId="{ED41C35A-AB8F-4CA2-8535-CC66ABF7D7FD}" type="pres">
      <dgm:prSet presAssocID="{2B9E766E-A392-4571-8387-F4DB0B571DFF}" presName="sibTrans" presStyleLbl="sibTrans1D1" presStyleIdx="3" presStyleCnt="5"/>
      <dgm:spPr/>
    </dgm:pt>
    <dgm:pt modelId="{BCFBCCE2-E1EC-40B0-B6C6-38F2487E5A9C}" type="pres">
      <dgm:prSet presAssocID="{2B9E766E-A392-4571-8387-F4DB0B571DFF}" presName="connectorText" presStyleLbl="sibTrans1D1" presStyleIdx="3" presStyleCnt="5"/>
      <dgm:spPr/>
    </dgm:pt>
    <dgm:pt modelId="{7468C2C2-B239-4764-A53D-830F1AB05C5C}" type="pres">
      <dgm:prSet presAssocID="{C806189A-C995-461D-97D3-18E50B8DAD73}" presName="node" presStyleLbl="node1" presStyleIdx="4" presStyleCnt="6">
        <dgm:presLayoutVars>
          <dgm:bulletEnabled val="1"/>
        </dgm:presLayoutVars>
      </dgm:prSet>
      <dgm:spPr/>
    </dgm:pt>
    <dgm:pt modelId="{13CFCEBB-2C48-461A-8502-D71F6A0C25BD}" type="pres">
      <dgm:prSet presAssocID="{065748D8-114D-448C-9A13-A4B289740AA8}" presName="sibTrans" presStyleLbl="sibTrans1D1" presStyleIdx="4" presStyleCnt="5"/>
      <dgm:spPr/>
    </dgm:pt>
    <dgm:pt modelId="{957F50F4-9D8F-45FC-8573-73331EE955A0}" type="pres">
      <dgm:prSet presAssocID="{065748D8-114D-448C-9A13-A4B289740AA8}" presName="connectorText" presStyleLbl="sibTrans1D1" presStyleIdx="4" presStyleCnt="5"/>
      <dgm:spPr/>
    </dgm:pt>
    <dgm:pt modelId="{55EF737D-680D-4B93-AC2E-DEDBB38746AF}" type="pres">
      <dgm:prSet presAssocID="{77E4D509-9AD1-49A9-8612-C3B944A798BF}" presName="node" presStyleLbl="node1" presStyleIdx="5" presStyleCnt="6">
        <dgm:presLayoutVars>
          <dgm:bulletEnabled val="1"/>
        </dgm:presLayoutVars>
      </dgm:prSet>
      <dgm:spPr/>
    </dgm:pt>
  </dgm:ptLst>
  <dgm:cxnLst>
    <dgm:cxn modelId="{0ABB4600-30E5-4D3F-9962-534916F576B8}" type="presOf" srcId="{C806189A-C995-461D-97D3-18E50B8DAD73}" destId="{7468C2C2-B239-4764-A53D-830F1AB05C5C}" srcOrd="0" destOrd="0" presId="urn:microsoft.com/office/officeart/2016/7/layout/RepeatingBendingProcessNew"/>
    <dgm:cxn modelId="{46C5C907-47A5-46DB-9211-AE6A2BE22465}" type="presOf" srcId="{065748D8-114D-448C-9A13-A4B289740AA8}" destId="{957F50F4-9D8F-45FC-8573-73331EE955A0}" srcOrd="1" destOrd="0" presId="urn:microsoft.com/office/officeart/2016/7/layout/RepeatingBendingProcessNew"/>
    <dgm:cxn modelId="{94F73709-7556-4515-AF15-D339BD7398EC}" srcId="{A29B8E24-5615-4D19-A892-17E3DE679428}" destId="{CBF5CB72-8BA2-471A-97FF-595D673BD636}" srcOrd="3" destOrd="0" parTransId="{99C7F764-693A-46B1-A7F9-A1101D9DF7E4}" sibTransId="{2B9E766E-A392-4571-8387-F4DB0B571DFF}"/>
    <dgm:cxn modelId="{D0EA4D0F-7DF5-4AA0-A301-C693FAFC677D}" type="presOf" srcId="{E671B1AE-A475-433D-947B-D5B4C17722CA}" destId="{868C091A-0443-4627-B0CA-E59B5A5825E4}" srcOrd="1" destOrd="0" presId="urn:microsoft.com/office/officeart/2016/7/layout/RepeatingBendingProcessNew"/>
    <dgm:cxn modelId="{9B139815-9DE0-4B0C-8024-8BAACF2FFC77}" type="presOf" srcId="{1225DED9-CD28-4BF5-95AA-3ABDAC19F9D4}" destId="{D0085836-05FB-438E-8A75-E8566D924BDE}" srcOrd="0" destOrd="0" presId="urn:microsoft.com/office/officeart/2016/7/layout/RepeatingBendingProcessNew"/>
    <dgm:cxn modelId="{C1EAA621-365B-46F3-A09E-B13F2D54CD06}" type="presOf" srcId="{1225DED9-CD28-4BF5-95AA-3ABDAC19F9D4}" destId="{495581DD-D33A-436B-9511-3BF2E8F67A18}" srcOrd="1" destOrd="0" presId="urn:microsoft.com/office/officeart/2016/7/layout/RepeatingBendingProcessNew"/>
    <dgm:cxn modelId="{D4C02324-9950-4FC8-A380-424D557560D6}" srcId="{A29B8E24-5615-4D19-A892-17E3DE679428}" destId="{F84F08BF-2CFC-4E71-A909-1305B957C1CA}" srcOrd="0" destOrd="0" parTransId="{36841355-7A72-450A-BD33-AE8996545C99}" sibTransId="{1225DED9-CD28-4BF5-95AA-3ABDAC19F9D4}"/>
    <dgm:cxn modelId="{46607C38-367C-4D1C-953B-31BE098EFEC7}" srcId="{A29B8E24-5615-4D19-A892-17E3DE679428}" destId="{98DEE8EC-C301-4BDB-BD42-AD743C362541}" srcOrd="1" destOrd="0" parTransId="{7A6106C4-FCC2-4B18-91CF-CB2D32F9EB6D}" sibTransId="{1ED71850-A328-4EFE-85A6-B1118F0FB89C}"/>
    <dgm:cxn modelId="{E75CC35B-B603-4B6A-8DD2-75C7009255CB}" type="presOf" srcId="{2B9E766E-A392-4571-8387-F4DB0B571DFF}" destId="{ED41C35A-AB8F-4CA2-8535-CC66ABF7D7FD}" srcOrd="0" destOrd="0" presId="urn:microsoft.com/office/officeart/2016/7/layout/RepeatingBendingProcessNew"/>
    <dgm:cxn modelId="{5FB85E5C-D5BE-453C-A8CA-586541DF1972}" type="presOf" srcId="{98DEE8EC-C301-4BDB-BD42-AD743C362541}" destId="{9E56147B-C523-4379-83C9-BF843A3BB5D9}" srcOrd="0" destOrd="0" presId="urn:microsoft.com/office/officeart/2016/7/layout/RepeatingBendingProcessNew"/>
    <dgm:cxn modelId="{81DEE15C-D2C7-483E-84EC-BA013BF688B9}" type="presOf" srcId="{E671B1AE-A475-433D-947B-D5B4C17722CA}" destId="{BD07E330-D91B-46A0-AC61-860F1CF22319}" srcOrd="0" destOrd="0" presId="urn:microsoft.com/office/officeart/2016/7/layout/RepeatingBendingProcessNew"/>
    <dgm:cxn modelId="{9C35DA60-27F6-481E-BFF5-743C5913BF94}" type="presOf" srcId="{F84F08BF-2CFC-4E71-A909-1305B957C1CA}" destId="{39D20780-A994-44A6-88CB-57A14E651DAC}" srcOrd="0" destOrd="0" presId="urn:microsoft.com/office/officeart/2016/7/layout/RepeatingBendingProcessNew"/>
    <dgm:cxn modelId="{29A4F967-2814-4F9B-8FFE-C310B9ADBE70}" type="presOf" srcId="{A29B8E24-5615-4D19-A892-17E3DE679428}" destId="{E5A3764B-6565-40BA-8B3C-3961212480EC}" srcOrd="0" destOrd="0" presId="urn:microsoft.com/office/officeart/2016/7/layout/RepeatingBendingProcessNew"/>
    <dgm:cxn modelId="{713C8369-412B-4299-A95A-C3A71CF38138}" srcId="{A29B8E24-5615-4D19-A892-17E3DE679428}" destId="{C806189A-C995-461D-97D3-18E50B8DAD73}" srcOrd="4" destOrd="0" parTransId="{BD09460E-EBC3-407F-9AE2-E78D182099ED}" sibTransId="{065748D8-114D-448C-9A13-A4B289740AA8}"/>
    <dgm:cxn modelId="{F576137C-4CC5-43D5-A9DE-64C15FDF49F1}" type="presOf" srcId="{CBF5CB72-8BA2-471A-97FF-595D673BD636}" destId="{0D1D8C9A-CADC-4049-A593-A359AAFA29F5}" srcOrd="0" destOrd="0" presId="urn:microsoft.com/office/officeart/2016/7/layout/RepeatingBendingProcessNew"/>
    <dgm:cxn modelId="{46401D84-D6D8-42BE-AAD0-3B01ADA19672}" type="presOf" srcId="{2B9E766E-A392-4571-8387-F4DB0B571DFF}" destId="{BCFBCCE2-E1EC-40B0-B6C6-38F2487E5A9C}" srcOrd="1" destOrd="0" presId="urn:microsoft.com/office/officeart/2016/7/layout/RepeatingBendingProcessNew"/>
    <dgm:cxn modelId="{AA787B8C-8D38-425B-8486-3763A603FDEE}" type="presOf" srcId="{D943342A-CDCC-4CEF-90B7-7B0387DB77F4}" destId="{BEDF5346-2E6C-4A49-AE7C-F56D8C87BBE2}" srcOrd="0" destOrd="0" presId="urn:microsoft.com/office/officeart/2016/7/layout/RepeatingBendingProcessNew"/>
    <dgm:cxn modelId="{558760AE-E5E9-4168-9EE9-BFA5C3524424}" type="presOf" srcId="{1ED71850-A328-4EFE-85A6-B1118F0FB89C}" destId="{41DCABCC-0EED-475C-AF2D-BFF6FE3884F9}" srcOrd="1" destOrd="0" presId="urn:microsoft.com/office/officeart/2016/7/layout/RepeatingBendingProcessNew"/>
    <dgm:cxn modelId="{E55BFFB3-4260-4034-B6AE-BF9BA79DEE67}" srcId="{A29B8E24-5615-4D19-A892-17E3DE679428}" destId="{D943342A-CDCC-4CEF-90B7-7B0387DB77F4}" srcOrd="2" destOrd="0" parTransId="{30244DEC-C47D-4C0C-B4DF-4F3125907B85}" sibTransId="{E671B1AE-A475-433D-947B-D5B4C17722CA}"/>
    <dgm:cxn modelId="{049274BA-0FCB-4E0A-817D-B2626F846398}" type="presOf" srcId="{065748D8-114D-448C-9A13-A4B289740AA8}" destId="{13CFCEBB-2C48-461A-8502-D71F6A0C25BD}" srcOrd="0" destOrd="0" presId="urn:microsoft.com/office/officeart/2016/7/layout/RepeatingBendingProcessNew"/>
    <dgm:cxn modelId="{467B88C7-6330-4543-B880-B07AE029736C}" type="presOf" srcId="{1ED71850-A328-4EFE-85A6-B1118F0FB89C}" destId="{65416AE4-14E7-4BFE-B09B-5372F6280CB7}" srcOrd="0" destOrd="0" presId="urn:microsoft.com/office/officeart/2016/7/layout/RepeatingBendingProcessNew"/>
    <dgm:cxn modelId="{FC3A78DB-4B75-40F5-81BE-499E1664E362}" type="presOf" srcId="{77E4D509-9AD1-49A9-8612-C3B944A798BF}" destId="{55EF737D-680D-4B93-AC2E-DEDBB38746AF}" srcOrd="0" destOrd="0" presId="urn:microsoft.com/office/officeart/2016/7/layout/RepeatingBendingProcessNew"/>
    <dgm:cxn modelId="{649933E4-410D-40BA-A026-0D8A7FCB7D70}" srcId="{A29B8E24-5615-4D19-A892-17E3DE679428}" destId="{77E4D509-9AD1-49A9-8612-C3B944A798BF}" srcOrd="5" destOrd="0" parTransId="{AEF3EB8A-8340-46A2-ADE4-4D9F552E71C7}" sibTransId="{C6EA4861-98F6-421E-ACF5-341DC85C4631}"/>
    <dgm:cxn modelId="{ED212440-48DE-446C-9EC2-C49A0C1843F6}" type="presParOf" srcId="{E5A3764B-6565-40BA-8B3C-3961212480EC}" destId="{39D20780-A994-44A6-88CB-57A14E651DAC}" srcOrd="0" destOrd="0" presId="urn:microsoft.com/office/officeart/2016/7/layout/RepeatingBendingProcessNew"/>
    <dgm:cxn modelId="{3B50688C-1787-4024-AAA1-A730C19ABCD5}" type="presParOf" srcId="{E5A3764B-6565-40BA-8B3C-3961212480EC}" destId="{D0085836-05FB-438E-8A75-E8566D924BDE}" srcOrd="1" destOrd="0" presId="urn:microsoft.com/office/officeart/2016/7/layout/RepeatingBendingProcessNew"/>
    <dgm:cxn modelId="{4CF6C829-C088-43CF-9EF9-ED34B84CAE0F}" type="presParOf" srcId="{D0085836-05FB-438E-8A75-E8566D924BDE}" destId="{495581DD-D33A-436B-9511-3BF2E8F67A18}" srcOrd="0" destOrd="0" presId="urn:microsoft.com/office/officeart/2016/7/layout/RepeatingBendingProcessNew"/>
    <dgm:cxn modelId="{C94FB759-F6C0-4E5F-B607-B4275078AD16}" type="presParOf" srcId="{E5A3764B-6565-40BA-8B3C-3961212480EC}" destId="{9E56147B-C523-4379-83C9-BF843A3BB5D9}" srcOrd="2" destOrd="0" presId="urn:microsoft.com/office/officeart/2016/7/layout/RepeatingBendingProcessNew"/>
    <dgm:cxn modelId="{3FF43F1E-7E0A-4B8D-837F-9D1B5A426C4D}" type="presParOf" srcId="{E5A3764B-6565-40BA-8B3C-3961212480EC}" destId="{65416AE4-14E7-4BFE-B09B-5372F6280CB7}" srcOrd="3" destOrd="0" presId="urn:microsoft.com/office/officeart/2016/7/layout/RepeatingBendingProcessNew"/>
    <dgm:cxn modelId="{A302F56D-B3BA-4B33-8F95-A6687E9ACDA5}" type="presParOf" srcId="{65416AE4-14E7-4BFE-B09B-5372F6280CB7}" destId="{41DCABCC-0EED-475C-AF2D-BFF6FE3884F9}" srcOrd="0" destOrd="0" presId="urn:microsoft.com/office/officeart/2016/7/layout/RepeatingBendingProcessNew"/>
    <dgm:cxn modelId="{6041722C-3693-4569-B818-B366310E24A0}" type="presParOf" srcId="{E5A3764B-6565-40BA-8B3C-3961212480EC}" destId="{BEDF5346-2E6C-4A49-AE7C-F56D8C87BBE2}" srcOrd="4" destOrd="0" presId="urn:microsoft.com/office/officeart/2016/7/layout/RepeatingBendingProcessNew"/>
    <dgm:cxn modelId="{2BFDB9A2-47EA-488C-9A0A-91023DF5B23C}" type="presParOf" srcId="{E5A3764B-6565-40BA-8B3C-3961212480EC}" destId="{BD07E330-D91B-46A0-AC61-860F1CF22319}" srcOrd="5" destOrd="0" presId="urn:microsoft.com/office/officeart/2016/7/layout/RepeatingBendingProcessNew"/>
    <dgm:cxn modelId="{E81549CA-384E-45CC-8092-09F54B83113B}" type="presParOf" srcId="{BD07E330-D91B-46A0-AC61-860F1CF22319}" destId="{868C091A-0443-4627-B0CA-E59B5A5825E4}" srcOrd="0" destOrd="0" presId="urn:microsoft.com/office/officeart/2016/7/layout/RepeatingBendingProcessNew"/>
    <dgm:cxn modelId="{847BB491-B215-4641-8FA2-1D65D636F72C}" type="presParOf" srcId="{E5A3764B-6565-40BA-8B3C-3961212480EC}" destId="{0D1D8C9A-CADC-4049-A593-A359AAFA29F5}" srcOrd="6" destOrd="0" presId="urn:microsoft.com/office/officeart/2016/7/layout/RepeatingBendingProcessNew"/>
    <dgm:cxn modelId="{3AB2D1F0-BBBF-4617-A609-1798EA544C76}" type="presParOf" srcId="{E5A3764B-6565-40BA-8B3C-3961212480EC}" destId="{ED41C35A-AB8F-4CA2-8535-CC66ABF7D7FD}" srcOrd="7" destOrd="0" presId="urn:microsoft.com/office/officeart/2016/7/layout/RepeatingBendingProcessNew"/>
    <dgm:cxn modelId="{9F0A6E09-FBFD-482A-A63D-C78FCD2373E8}" type="presParOf" srcId="{ED41C35A-AB8F-4CA2-8535-CC66ABF7D7FD}" destId="{BCFBCCE2-E1EC-40B0-B6C6-38F2487E5A9C}" srcOrd="0" destOrd="0" presId="urn:microsoft.com/office/officeart/2016/7/layout/RepeatingBendingProcessNew"/>
    <dgm:cxn modelId="{6BCD1EF5-6589-4203-B25E-5A82EC30B88F}" type="presParOf" srcId="{E5A3764B-6565-40BA-8B3C-3961212480EC}" destId="{7468C2C2-B239-4764-A53D-830F1AB05C5C}" srcOrd="8" destOrd="0" presId="urn:microsoft.com/office/officeart/2016/7/layout/RepeatingBendingProcessNew"/>
    <dgm:cxn modelId="{95696EBE-B649-43B1-8825-AAA66BC190CC}" type="presParOf" srcId="{E5A3764B-6565-40BA-8B3C-3961212480EC}" destId="{13CFCEBB-2C48-461A-8502-D71F6A0C25BD}" srcOrd="9" destOrd="0" presId="urn:microsoft.com/office/officeart/2016/7/layout/RepeatingBendingProcessNew"/>
    <dgm:cxn modelId="{D97A544D-1D0C-454B-94CB-BDD2C2050D9E}" type="presParOf" srcId="{13CFCEBB-2C48-461A-8502-D71F6A0C25BD}" destId="{957F50F4-9D8F-45FC-8573-73331EE955A0}" srcOrd="0" destOrd="0" presId="urn:microsoft.com/office/officeart/2016/7/layout/RepeatingBendingProcessNew"/>
    <dgm:cxn modelId="{B404F096-A5CC-48CC-9DE5-8ED65F251185}" type="presParOf" srcId="{E5A3764B-6565-40BA-8B3C-3961212480EC}" destId="{55EF737D-680D-4B93-AC2E-DEDBB38746AF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85836-05FB-438E-8A75-E8566D924BDE}">
      <dsp:nvSpPr>
        <dsp:cNvPr id="0" name=""/>
        <dsp:cNvSpPr/>
      </dsp:nvSpPr>
      <dsp:spPr>
        <a:xfrm>
          <a:off x="3122169" y="706913"/>
          <a:ext cx="545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669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80597" y="749752"/>
        <a:ext cx="28813" cy="5762"/>
      </dsp:txXfrm>
    </dsp:sp>
    <dsp:sp modelId="{39D20780-A994-44A6-88CB-57A14E651DAC}">
      <dsp:nvSpPr>
        <dsp:cNvPr id="0" name=""/>
        <dsp:cNvSpPr/>
      </dsp:nvSpPr>
      <dsp:spPr>
        <a:xfrm>
          <a:off x="618447" y="977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/>
            <a:t>Escalabilidad y modularidad:</a:t>
          </a:r>
          <a:r>
            <a:rPr lang="es-MX" sz="1500" kern="1200"/>
            <a:t> cada microservicio puede crecer de forma independiente, asegurando estabilidad en escenarios de alta demanda.</a:t>
          </a:r>
          <a:endParaRPr lang="en-US" sz="1500" kern="1200"/>
        </a:p>
      </dsp:txBody>
      <dsp:txXfrm>
        <a:off x="618447" y="977"/>
        <a:ext cx="2505521" cy="1503312"/>
      </dsp:txXfrm>
    </dsp:sp>
    <dsp:sp modelId="{65416AE4-14E7-4BFE-B09B-5372F6280CB7}">
      <dsp:nvSpPr>
        <dsp:cNvPr id="0" name=""/>
        <dsp:cNvSpPr/>
      </dsp:nvSpPr>
      <dsp:spPr>
        <a:xfrm>
          <a:off x="6203960" y="706913"/>
          <a:ext cx="545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669" y="45720"/>
              </a:lnTo>
            </a:path>
          </a:pathLst>
        </a:custGeom>
        <a:noFill/>
        <a:ln w="9525" cap="flat" cmpd="sng" algn="ctr">
          <a:solidFill>
            <a:schemeClr val="accent5">
              <a:hueOff val="1065261"/>
              <a:satOff val="-7052"/>
              <a:lumOff val="-122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62388" y="749752"/>
        <a:ext cx="28813" cy="5762"/>
      </dsp:txXfrm>
    </dsp:sp>
    <dsp:sp modelId="{9E56147B-C523-4379-83C9-BF843A3BB5D9}">
      <dsp:nvSpPr>
        <dsp:cNvPr id="0" name=""/>
        <dsp:cNvSpPr/>
      </dsp:nvSpPr>
      <dsp:spPr>
        <a:xfrm>
          <a:off x="3700238" y="977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852209"/>
                <a:satOff val="-5641"/>
                <a:lumOff val="-98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852209"/>
                <a:satOff val="-5641"/>
                <a:lumOff val="-98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/>
            <a:t>Transparencia y trazabilidad:</a:t>
          </a:r>
          <a:r>
            <a:rPr lang="es-MX" sz="1500" kern="1200"/>
            <a:t> todas las donaciones se registran y auditan en tiempo real, reforzando la confianza social.</a:t>
          </a:r>
          <a:endParaRPr lang="en-US" sz="1500" kern="1200"/>
        </a:p>
      </dsp:txBody>
      <dsp:txXfrm>
        <a:off x="3700238" y="977"/>
        <a:ext cx="2505521" cy="1503312"/>
      </dsp:txXfrm>
    </dsp:sp>
    <dsp:sp modelId="{BD07E330-D91B-46A0-AC61-860F1CF22319}">
      <dsp:nvSpPr>
        <dsp:cNvPr id="0" name=""/>
        <dsp:cNvSpPr/>
      </dsp:nvSpPr>
      <dsp:spPr>
        <a:xfrm>
          <a:off x="1871208" y="1502490"/>
          <a:ext cx="6163582" cy="545669"/>
        </a:xfrm>
        <a:custGeom>
          <a:avLst/>
          <a:gdLst/>
          <a:ahLst/>
          <a:cxnLst/>
          <a:rect l="0" t="0" r="0" b="0"/>
          <a:pathLst>
            <a:path>
              <a:moveTo>
                <a:pt x="6163582" y="0"/>
              </a:moveTo>
              <a:lnTo>
                <a:pt x="6163582" y="289934"/>
              </a:lnTo>
              <a:lnTo>
                <a:pt x="0" y="289934"/>
              </a:lnTo>
              <a:lnTo>
                <a:pt x="0" y="545669"/>
              </a:lnTo>
            </a:path>
          </a:pathLst>
        </a:custGeom>
        <a:noFill/>
        <a:ln w="9525" cap="flat" cmpd="sng" algn="ctr">
          <a:solidFill>
            <a:schemeClr val="accent5">
              <a:hueOff val="2130522"/>
              <a:satOff val="-14104"/>
              <a:lumOff val="-245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98237" y="1772443"/>
        <a:ext cx="309523" cy="5762"/>
      </dsp:txXfrm>
    </dsp:sp>
    <dsp:sp modelId="{BEDF5346-2E6C-4A49-AE7C-F56D8C87BBE2}">
      <dsp:nvSpPr>
        <dsp:cNvPr id="0" name=""/>
        <dsp:cNvSpPr/>
      </dsp:nvSpPr>
      <dsp:spPr>
        <a:xfrm>
          <a:off x="6782029" y="977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1704418"/>
                <a:satOff val="-11283"/>
                <a:lumOff val="-196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1704418"/>
                <a:satOff val="-11283"/>
                <a:lumOff val="-196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/>
            <a:t>Frontend responsivo + backend seguro:</a:t>
          </a:r>
          <a:r>
            <a:rPr lang="es-MX" sz="1500" kern="1200"/>
            <a:t> accesibilidad desde cualquier dispositivo y protección multicapa de datos sensibles.</a:t>
          </a:r>
          <a:endParaRPr lang="en-US" sz="1500" kern="1200"/>
        </a:p>
      </dsp:txBody>
      <dsp:txXfrm>
        <a:off x="6782029" y="977"/>
        <a:ext cx="2505521" cy="1503312"/>
      </dsp:txXfrm>
    </dsp:sp>
    <dsp:sp modelId="{ED41C35A-AB8F-4CA2-8535-CC66ABF7D7FD}">
      <dsp:nvSpPr>
        <dsp:cNvPr id="0" name=""/>
        <dsp:cNvSpPr/>
      </dsp:nvSpPr>
      <dsp:spPr>
        <a:xfrm>
          <a:off x="3122169" y="2786496"/>
          <a:ext cx="545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669" y="45720"/>
              </a:lnTo>
            </a:path>
          </a:pathLst>
        </a:custGeom>
        <a:noFill/>
        <a:ln w="9525" cap="flat" cmpd="sng" algn="ctr">
          <a:solidFill>
            <a:schemeClr val="accent5">
              <a:hueOff val="3195783"/>
              <a:satOff val="-21155"/>
              <a:lumOff val="-36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80597" y="2829334"/>
        <a:ext cx="28813" cy="5762"/>
      </dsp:txXfrm>
    </dsp:sp>
    <dsp:sp modelId="{0D1D8C9A-CADC-4049-A593-A359AAFA29F5}">
      <dsp:nvSpPr>
        <dsp:cNvPr id="0" name=""/>
        <dsp:cNvSpPr/>
      </dsp:nvSpPr>
      <dsp:spPr>
        <a:xfrm>
          <a:off x="618447" y="2080559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2556627"/>
                <a:satOff val="-16924"/>
                <a:lumOff val="-294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2556627"/>
                <a:satOff val="-16924"/>
                <a:lumOff val="-294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/>
            <a:t>CI/CD y pruebas automatizadas:</a:t>
          </a:r>
          <a:r>
            <a:rPr lang="es-MX" sz="1500" kern="1200"/>
            <a:t> garantizan calidad continua y reducen riesgos en producción.</a:t>
          </a:r>
          <a:endParaRPr lang="en-US" sz="1500" kern="1200"/>
        </a:p>
      </dsp:txBody>
      <dsp:txXfrm>
        <a:off x="618447" y="2080559"/>
        <a:ext cx="2505521" cy="1503312"/>
      </dsp:txXfrm>
    </dsp:sp>
    <dsp:sp modelId="{13CFCEBB-2C48-461A-8502-D71F6A0C25BD}">
      <dsp:nvSpPr>
        <dsp:cNvPr id="0" name=""/>
        <dsp:cNvSpPr/>
      </dsp:nvSpPr>
      <dsp:spPr>
        <a:xfrm>
          <a:off x="6203960" y="2786496"/>
          <a:ext cx="54566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5669" y="45720"/>
              </a:lnTo>
            </a:path>
          </a:pathLst>
        </a:custGeom>
        <a:noFill/>
        <a:ln w="9525" cap="flat" cmpd="sng" algn="ctr">
          <a:solidFill>
            <a:schemeClr val="accent5">
              <a:hueOff val="4261045"/>
              <a:satOff val="-28207"/>
              <a:lumOff val="-490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62388" y="2829334"/>
        <a:ext cx="28813" cy="5762"/>
      </dsp:txXfrm>
    </dsp:sp>
    <dsp:sp modelId="{7468C2C2-B239-4764-A53D-830F1AB05C5C}">
      <dsp:nvSpPr>
        <dsp:cNvPr id="0" name=""/>
        <dsp:cNvSpPr/>
      </dsp:nvSpPr>
      <dsp:spPr>
        <a:xfrm>
          <a:off x="3700238" y="2080559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3408836"/>
                <a:satOff val="-22566"/>
                <a:lumOff val="-392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3408836"/>
                <a:satOff val="-22566"/>
                <a:lumOff val="-392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/>
            <a:t>Cumplimiento normativo y resiliencia:</a:t>
          </a:r>
          <a:r>
            <a:rPr lang="es-MX" sz="1500" kern="1200"/>
            <a:t> alineación con estándares legales y capacidad de recuperación automática ante fallos.</a:t>
          </a:r>
          <a:endParaRPr lang="en-US" sz="1500" kern="1200"/>
        </a:p>
      </dsp:txBody>
      <dsp:txXfrm>
        <a:off x="3700238" y="2080559"/>
        <a:ext cx="2505521" cy="1503312"/>
      </dsp:txXfrm>
    </dsp:sp>
    <dsp:sp modelId="{55EF737D-680D-4B93-AC2E-DEDBB38746AF}">
      <dsp:nvSpPr>
        <dsp:cNvPr id="0" name=""/>
        <dsp:cNvSpPr/>
      </dsp:nvSpPr>
      <dsp:spPr>
        <a:xfrm>
          <a:off x="6782029" y="2080559"/>
          <a:ext cx="2505521" cy="1503312"/>
        </a:xfrm>
        <a:prstGeom prst="rect">
          <a:avLst/>
        </a:prstGeom>
        <a:gradFill rotWithShape="0">
          <a:gsLst>
            <a:gs pos="0">
              <a:schemeClr val="accent5">
                <a:hueOff val="4261045"/>
                <a:satOff val="-28207"/>
                <a:lumOff val="-490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4261045"/>
                <a:satOff val="-28207"/>
                <a:lumOff val="-490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2773" tIns="128871" rIns="122773" bIns="12887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/>
            <a:t>Impacto social e innovación futura:</a:t>
          </a:r>
          <a:r>
            <a:rPr lang="es-MX" sz="1500" kern="1200"/>
            <a:t> optimiza la coordinación de ayuda y abre la puerta a integrar IA y blockchain.</a:t>
          </a:r>
          <a:endParaRPr lang="en-US" sz="1500" kern="1200"/>
        </a:p>
      </dsp:txBody>
      <dsp:txXfrm>
        <a:off x="6782029" y="2080559"/>
        <a:ext cx="2505521" cy="1503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873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74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6613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254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0919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2232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145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5801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577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28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885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55336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8301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695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6218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2046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5034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L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425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D3DC88-8FAD-10C1-64C0-D2665CE2E7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04" r="9091" b="2316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51AD2B-F620-529D-C597-7AF1A93D4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s-CL" sz="6600" dirty="0"/>
              <a:t>Proyecto </a:t>
            </a:r>
            <a:r>
              <a:rPr lang="es-CL" sz="6600"/>
              <a:t>Donaton</a:t>
            </a:r>
            <a:r>
              <a:rPr lang="es-CL" sz="6600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996528-3114-1909-DA98-4A5875329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s-CL" sz="22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Nombre: Maximiliano Rubilar</a:t>
            </a:r>
          </a:p>
          <a:p>
            <a:pPr algn="l"/>
            <a:r>
              <a:rPr lang="es-CL" sz="2200" dirty="0">
                <a:solidFill>
                  <a:schemeClr val="bg2">
                    <a:lumMod val="10000"/>
                    <a:lumOff val="90000"/>
                  </a:schemeClr>
                </a:solidFill>
              </a:rPr>
              <a:t>Sección: 004D</a:t>
            </a:r>
          </a:p>
        </p:txBody>
      </p:sp>
    </p:spTree>
    <p:extLst>
      <p:ext uri="{BB962C8B-B14F-4D97-AF65-F5344CB8AC3E}">
        <p14:creationId xmlns:p14="http://schemas.microsoft.com/office/powerpoint/2010/main" val="3817919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1AF7E-1BD3-4E51-82A0-F972C8605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s-CL" dirty="0"/>
              <a:t>Contextualización del caso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60C05C-A944-1E9C-CD36-5BB73E2F51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68958" y="2066925"/>
            <a:ext cx="6078453" cy="372427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700" b="1" dirty="0"/>
              <a:t>Problema:</a:t>
            </a:r>
            <a:r>
              <a:rPr lang="es-MX" sz="1700" dirty="0"/>
              <a:t> La ayuda humanitaria se gestiona de forma manual y dispersa, generando duplicaciones y desabastecimiento en zonas críticas.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MX" sz="1700" b="1" dirty="0"/>
              <a:t>Propuesta:</a:t>
            </a:r>
            <a:r>
              <a:rPr lang="es-MX" sz="1700" dirty="0"/>
              <a:t> Crear una </a:t>
            </a:r>
            <a:r>
              <a:rPr lang="es-MX" sz="1700" b="1" dirty="0"/>
              <a:t>plataforma basada en microservicios</a:t>
            </a:r>
            <a:r>
              <a:rPr lang="es-MX" sz="1700" dirty="0"/>
              <a:t> que centralice donaciones, logística y necesidades en terreno, asegurando coordinación ágil y confiable.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MX" sz="1700" dirty="0">
                <a:latin typeface="Arial" panose="020B0604020202020204" pitchFamily="34" charset="0"/>
              </a:rPr>
              <a:t>Impacto esperado: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MX" sz="1700" dirty="0">
                <a:latin typeface="Arial" panose="020B0604020202020204" pitchFamily="34" charset="0"/>
              </a:rPr>
              <a:t>- </a:t>
            </a:r>
            <a:r>
              <a:rPr lang="es-MX" sz="1700" b="1" dirty="0"/>
              <a:t>Transparencia y trazabilidad</a:t>
            </a:r>
            <a:r>
              <a:rPr lang="es-MX" sz="1700" dirty="0"/>
              <a:t> en cada donación.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MX" sz="1700" dirty="0">
                <a:latin typeface="Arial" panose="020B0604020202020204" pitchFamily="34" charset="0"/>
              </a:rPr>
              <a:t>- </a:t>
            </a:r>
            <a:r>
              <a:rPr lang="es-MX" sz="1700" b="1" dirty="0"/>
              <a:t>Optimización logística</a:t>
            </a:r>
            <a:r>
              <a:rPr lang="es-MX" sz="1700" dirty="0"/>
              <a:t> en inventarios y transporte.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700" b="1" dirty="0"/>
              <a:t>Participación ciudadana e institucional</a:t>
            </a:r>
            <a:r>
              <a:rPr lang="es-MX" sz="1700" dirty="0"/>
              <a:t> en un ecosistema colaborativo.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700" dirty="0"/>
              <a:t>Re</a:t>
            </a:r>
            <a:r>
              <a:rPr lang="es-MX" sz="1700" b="1" dirty="0"/>
              <a:t>siliencia operativa</a:t>
            </a:r>
            <a:r>
              <a:rPr lang="es-MX" sz="1700" dirty="0"/>
              <a:t> frente a emergencias y alta demanda.</a:t>
            </a:r>
          </a:p>
        </p:txBody>
      </p:sp>
      <p:pic>
        <p:nvPicPr>
          <p:cNvPr id="41" name="Picture 40" descr="Notas adhesivas en una pared">
            <a:extLst>
              <a:ext uri="{FF2B5EF4-FFF2-40B4-BE49-F238E27FC236}">
                <a16:creationId xmlns:a16="http://schemas.microsoft.com/office/drawing/2014/main" id="{56C582E2-8598-8AC4-459A-E31B11D8C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95" r="26559" b="2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467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9933E-3574-6C2E-1A11-3833F8038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9015" y="1093787"/>
            <a:ext cx="3059969" cy="46974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 dirty="0"/>
              <a:t>Selección de patrones de arquitectura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E10EC0-38FB-E1E0-F0F8-BAFC077031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5467" y="1093788"/>
            <a:ext cx="5831944" cy="469741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plataforma Donaton se construye sobre patrones que garantizan modularidad y confiabilidad: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Repository Pattern:</a:t>
            </a:r>
            <a:r>
              <a:rPr lang="en-US" sz="1600" dirty="0">
                <a:solidFill>
                  <a:schemeClr val="tx1"/>
                </a:solidFill>
              </a:rPr>
              <a:t> separa la lógica de negocio del acceso a datos, asegurando consistencia y facilidad de mantenimiento.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Factory Method:</a:t>
            </a:r>
            <a:r>
              <a:rPr lang="en-US" sz="1600" dirty="0">
                <a:solidFill>
                  <a:schemeClr val="tx1"/>
                </a:solidFill>
              </a:rPr>
              <a:t> permite crear objetos de manera uniforme y extensible, reduciendo errores en entidades críticas.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Circuit Breaker:</a:t>
            </a:r>
            <a:r>
              <a:rPr lang="en-US" sz="1600" dirty="0">
                <a:solidFill>
                  <a:schemeClr val="tx1"/>
                </a:solidFill>
              </a:rPr>
              <a:t> protege la resiliencia del sistema, evitando que fallos aislados afecten la disponibilidad general.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API Gateway:</a:t>
            </a:r>
            <a:r>
              <a:rPr lang="en-US" sz="1600" dirty="0">
                <a:solidFill>
                  <a:schemeClr val="tx1"/>
                </a:solidFill>
              </a:rPr>
              <a:t> centraliza la entrada, gestionando seguridad, balanceo de carga y monitoreo de manera eficiente.</a:t>
            </a:r>
          </a:p>
        </p:txBody>
      </p:sp>
    </p:spTree>
    <p:extLst>
      <p:ext uri="{BB962C8B-B14F-4D97-AF65-F5344CB8AC3E}">
        <p14:creationId xmlns:p14="http://schemas.microsoft.com/office/powerpoint/2010/main" val="3942863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A70B28-1FFE-2C5A-3819-9D6BC1507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s-CL" dirty="0"/>
              <a:t>Justificación de patrones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028668-8957-0F99-F0D5-6FB1278B4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700" dirty="0"/>
              <a:t>La selección de patrones asegura que la plataforma sea confiable y preparada para crecer: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700" b="1" dirty="0"/>
              <a:t>Buenas prácticas modernas:</a:t>
            </a:r>
            <a:r>
              <a:rPr lang="es-MX" sz="1700" dirty="0"/>
              <a:t> alineadas con estándares de microservicios y frameworks actuales.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700" b="1" dirty="0"/>
              <a:t>Escalabilidad y sostenibilidad:</a:t>
            </a:r>
            <a:r>
              <a:rPr lang="es-MX" sz="1700" dirty="0"/>
              <a:t> capacidad de aumentar usuarios y transacciones sin perder rendimiento ni seguridad.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700" b="1" dirty="0"/>
              <a:t>Impacto social:</a:t>
            </a:r>
            <a:r>
              <a:rPr lang="es-MX" sz="1700" dirty="0"/>
              <a:t> disponibilidad y trazabilidad que refuerzan la confianza de donantes e instituciones.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700" b="1" dirty="0"/>
              <a:t>Preparación futura:</a:t>
            </a:r>
            <a:r>
              <a:rPr lang="es-MX" sz="1700" dirty="0"/>
              <a:t> integración de tecnologías emergentes como IA para predicción y blockchain para trazabilidad avanzada.</a:t>
            </a:r>
            <a:endParaRPr lang="es-CL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3FAD7-102B-399A-9A1D-9805F5D4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59" r="15121" b="1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96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522F6F2-D276-4B44-927D-595B62E8F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CE1A8443-DFAD-4C8E-A1D1-B1FFC23A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7C16C621-4F51-4093-B639-5E04CF0EA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7EE9CFE-0ADC-1A2E-29E7-673DED0EF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810" y="9525"/>
            <a:ext cx="6050713" cy="1478570"/>
          </a:xfrm>
        </p:spPr>
        <p:txBody>
          <a:bodyPr>
            <a:normAutofit/>
          </a:bodyPr>
          <a:lstStyle/>
          <a:p>
            <a:r>
              <a:rPr lang="es-CL" dirty="0"/>
              <a:t>Comunicación de microservicios </a:t>
            </a:r>
          </a:p>
        </p:txBody>
      </p:sp>
      <p:pic>
        <p:nvPicPr>
          <p:cNvPr id="5" name="Picture 4" descr="Habitación con servidores iluminados">
            <a:extLst>
              <a:ext uri="{FF2B5EF4-FFF2-40B4-BE49-F238E27FC236}">
                <a16:creationId xmlns:a16="http://schemas.microsoft.com/office/drawing/2014/main" id="{5527313F-58FE-3F0D-D1C2-14674B9357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75" r="30806" b="-1"/>
          <a:stretch>
            <a:fillRect/>
          </a:stretch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A210947-19DD-4D82-9001-EB4FD3CA88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08BA069-8E59-4A52-9D81-F41BB255C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F647F8A-2464-4A5A-BC19-757CDB00F6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56E9E8F0-C005-4002-A7CC-050F4E163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F73DD6E-B3F0-4263-B349-EF6F73438A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19862A2-B765-4A89-A229-6D1389781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80B74F06-F12D-48F0-9469-1B41C8676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0B9E938-2C10-4FD4-A44B-AC2C6CCB5B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9EFD92F-C67D-4998-BF9E-78AE28DF5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40A102B9-B463-49AA-80B5-DED0B2E43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D8FE84BD-D175-437D-B860-3715158CF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1577D13D-8777-48FE-8799-57CBDEA2A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ADE86DE6-4A59-4BE5-B2C8-CB7C0FB965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5FD7F01E-86AB-47C1-81B1-419856314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953EB852-7AA6-40F7-A805-0FF04FAE8E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FA283238-23CF-4994-8E02-4EB5D97D8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AE2F0444-3560-46A9-85C6-AD9C4D700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B69EAEB1-1086-4684-B20B-C6E250A90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4C869530-8A60-4306-BC67-63294F9D5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EEBC3BC8-0066-4FFF-936E-746B47A0C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7951EC55-DA0C-46F0-BF98-427078A66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F40CBDE4-9D9D-471D-9C7E-D000C060B2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4E63F3FC-5BCB-400B-8CBB-DB58CF61D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CBE4FF3F-9B00-4479-9EC8-BADD8C77E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6BA6A1A3-FE7E-46C6-96C1-693C2E018A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114DA81D-9A00-4EB7-A592-23911BB14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DB83C953-DA56-415B-943C-6669B401A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51B3F681-1B14-43A9-AD7C-3337BF646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9FFEE267-6F5A-4942-9CCD-93E0FD72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473DF80-FE50-4F0F-9AF3-BE37ACE6B9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D2426B62-A33A-419E-B4DF-42543C4CC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1790CDFA-5E0D-467A-B0CA-637136309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Freeform 36">
              <a:extLst>
                <a:ext uri="{FF2B5EF4-FFF2-40B4-BE49-F238E27FC236}">
                  <a16:creationId xmlns:a16="http://schemas.microsoft.com/office/drawing/2014/main" id="{54F41241-7241-4D2A-BDEA-28406C41D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6" name="Freeform 37">
              <a:extLst>
                <a:ext uri="{FF2B5EF4-FFF2-40B4-BE49-F238E27FC236}">
                  <a16:creationId xmlns:a16="http://schemas.microsoft.com/office/drawing/2014/main" id="{351E54C3-3D62-48EA-A2DC-D1570769C2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Freeform 38">
              <a:extLst>
                <a:ext uri="{FF2B5EF4-FFF2-40B4-BE49-F238E27FC236}">
                  <a16:creationId xmlns:a16="http://schemas.microsoft.com/office/drawing/2014/main" id="{F08D2F28-5814-4CA4-A46E-C82FE6EF5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8" name="Freeform 39">
              <a:extLst>
                <a:ext uri="{FF2B5EF4-FFF2-40B4-BE49-F238E27FC236}">
                  <a16:creationId xmlns:a16="http://schemas.microsoft.com/office/drawing/2014/main" id="{D308FFD9-83B2-4D86-8A5B-CE9F07E8E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49" name="Freeform 40">
              <a:extLst>
                <a:ext uri="{FF2B5EF4-FFF2-40B4-BE49-F238E27FC236}">
                  <a16:creationId xmlns:a16="http://schemas.microsoft.com/office/drawing/2014/main" id="{E6A3BE28-5E73-44F0-AA57-58DAD5DD0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Freeform 41">
              <a:extLst>
                <a:ext uri="{FF2B5EF4-FFF2-40B4-BE49-F238E27FC236}">
                  <a16:creationId xmlns:a16="http://schemas.microsoft.com/office/drawing/2014/main" id="{7ACED00D-535A-4494-8BFA-78E58A2D56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1" name="Freeform 42">
              <a:extLst>
                <a:ext uri="{FF2B5EF4-FFF2-40B4-BE49-F238E27FC236}">
                  <a16:creationId xmlns:a16="http://schemas.microsoft.com/office/drawing/2014/main" id="{0C7D7BCF-768E-4C0D-857A-63BBA8F9BF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2" name="Freeform 43">
              <a:extLst>
                <a:ext uri="{FF2B5EF4-FFF2-40B4-BE49-F238E27FC236}">
                  <a16:creationId xmlns:a16="http://schemas.microsoft.com/office/drawing/2014/main" id="{29401C0B-5EF6-49A6-A9F6-DAC32B3B65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3" name="Freeform 44">
              <a:extLst>
                <a:ext uri="{FF2B5EF4-FFF2-40B4-BE49-F238E27FC236}">
                  <a16:creationId xmlns:a16="http://schemas.microsoft.com/office/drawing/2014/main" id="{F6DF5234-BC86-4ABB-A7ED-575143C6A4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4863625-8438-4877-9681-839C192C6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Freeform 46">
              <a:extLst>
                <a:ext uri="{FF2B5EF4-FFF2-40B4-BE49-F238E27FC236}">
                  <a16:creationId xmlns:a16="http://schemas.microsoft.com/office/drawing/2014/main" id="{8A1D47CD-E2C4-4AD2-B105-655BB09052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6" name="Freeform 47">
              <a:extLst>
                <a:ext uri="{FF2B5EF4-FFF2-40B4-BE49-F238E27FC236}">
                  <a16:creationId xmlns:a16="http://schemas.microsoft.com/office/drawing/2014/main" id="{4D816259-D8E8-4E5C-A2CF-8C8AFB805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Freeform 48">
              <a:extLst>
                <a:ext uri="{FF2B5EF4-FFF2-40B4-BE49-F238E27FC236}">
                  <a16:creationId xmlns:a16="http://schemas.microsoft.com/office/drawing/2014/main" id="{6377A258-3874-44DB-99C9-C4EA6F7AA2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Freeform 49">
              <a:extLst>
                <a:ext uri="{FF2B5EF4-FFF2-40B4-BE49-F238E27FC236}">
                  <a16:creationId xmlns:a16="http://schemas.microsoft.com/office/drawing/2014/main" id="{A3902333-5178-425F-AA5F-14ABBEDAE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Freeform 50">
              <a:extLst>
                <a:ext uri="{FF2B5EF4-FFF2-40B4-BE49-F238E27FC236}">
                  <a16:creationId xmlns:a16="http://schemas.microsoft.com/office/drawing/2014/main" id="{090FF72C-8743-4B55-99A4-E62D6A4B2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Freeform 51">
              <a:extLst>
                <a:ext uri="{FF2B5EF4-FFF2-40B4-BE49-F238E27FC236}">
                  <a16:creationId xmlns:a16="http://schemas.microsoft.com/office/drawing/2014/main" id="{BFCE6B39-2A20-4DB5-BA8E-2FA60B460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1" name="Freeform 52">
              <a:extLst>
                <a:ext uri="{FF2B5EF4-FFF2-40B4-BE49-F238E27FC236}">
                  <a16:creationId xmlns:a16="http://schemas.microsoft.com/office/drawing/2014/main" id="{A9F068E0-CF7F-474D-9118-50619A6E1C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2" name="Freeform 53">
              <a:extLst>
                <a:ext uri="{FF2B5EF4-FFF2-40B4-BE49-F238E27FC236}">
                  <a16:creationId xmlns:a16="http://schemas.microsoft.com/office/drawing/2014/main" id="{CEE9ADFF-5205-4783-ADA2-655A73DB4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Freeform 54">
              <a:extLst>
                <a:ext uri="{FF2B5EF4-FFF2-40B4-BE49-F238E27FC236}">
                  <a16:creationId xmlns:a16="http://schemas.microsoft.com/office/drawing/2014/main" id="{B28123C4-0A50-4115-936C-C659A912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4" name="Freeform 55">
              <a:extLst>
                <a:ext uri="{FF2B5EF4-FFF2-40B4-BE49-F238E27FC236}">
                  <a16:creationId xmlns:a16="http://schemas.microsoft.com/office/drawing/2014/main" id="{09B49DB9-536F-45DE-9352-5095C8D83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5" name="Freeform 56">
              <a:extLst>
                <a:ext uri="{FF2B5EF4-FFF2-40B4-BE49-F238E27FC236}">
                  <a16:creationId xmlns:a16="http://schemas.microsoft.com/office/drawing/2014/main" id="{43C4B12A-C5E9-47A5-9B04-5D2186A07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Freeform 57">
              <a:extLst>
                <a:ext uri="{FF2B5EF4-FFF2-40B4-BE49-F238E27FC236}">
                  <a16:creationId xmlns:a16="http://schemas.microsoft.com/office/drawing/2014/main" id="{A01B0DF5-9122-4E62-BF5B-0CCE0A5457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  <p:sp>
          <p:nvSpPr>
            <p:cNvPr id="67" name="Freeform 58">
              <a:extLst>
                <a:ext uri="{FF2B5EF4-FFF2-40B4-BE49-F238E27FC236}">
                  <a16:creationId xmlns:a16="http://schemas.microsoft.com/office/drawing/2014/main" id="{3ED6B441-A89D-4565-949B-4C4AB6DC9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3921FF-2FA4-1FAE-62D4-8E4732C41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1382714"/>
            <a:ext cx="6078453" cy="438150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s-MX" sz="1600" dirty="0"/>
              <a:t>La plataforma Donaton asegura que cada servicio funcione de manera independiente pero coordinada, utilizando distintos mecanismos de comunicación que refuerzan la eficiencia y la resiliencia: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600" b="1" dirty="0"/>
              <a:t>API REST gestionada por API Gateway:</a:t>
            </a:r>
            <a:r>
              <a:rPr lang="es-MX" sz="1600" dirty="0"/>
              <a:t> centraliza las solicitudes externas, controla seguridad y balanceo de carga.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600" b="1" dirty="0"/>
              <a:t>Mensajería asíncrona (RabbitMQ/Kafka):</a:t>
            </a:r>
            <a:r>
              <a:rPr lang="es-MX" sz="1600" dirty="0"/>
              <a:t> permite procesar eventos en tiempo real sin sobrecargar los servicios, garantizando que las solicitudes críticas no se pierdan.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600" b="1" dirty="0" err="1"/>
              <a:t>gRPC</a:t>
            </a:r>
            <a:r>
              <a:rPr lang="es-MX" sz="1600" b="1" dirty="0"/>
              <a:t> para alto rendimiento interno:</a:t>
            </a:r>
            <a:r>
              <a:rPr lang="es-MX" sz="1600" dirty="0"/>
              <a:t> reduce la latencia en operaciones sensibles como validación de inventarios.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600" b="1" dirty="0"/>
              <a:t>Monitoreo y trazabilidad centralizada:</a:t>
            </a:r>
            <a:r>
              <a:rPr lang="es-MX" sz="1600" dirty="0"/>
              <a:t> cada interacción queda registrada, asegurando transparencia y auditoría completa del recorrido de las donaciones.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es-MX" sz="1600" b="1" dirty="0"/>
              <a:t>Redundancia y tolerancia a fallos:</a:t>
            </a:r>
            <a:r>
              <a:rPr lang="es-MX" sz="1600" dirty="0"/>
              <a:t> el sistema puede redirigir solicitudes a otros nodos disponibles, manteniendo continuidad incluso en escenarios de alta demanda.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4064060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D2108-0A6A-47FD-29E3-88E9276C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6041" y="618518"/>
            <a:ext cx="3281003" cy="1478570"/>
          </a:xfrm>
        </p:spPr>
        <p:txBody>
          <a:bodyPr anchor="b">
            <a:normAutofit/>
          </a:bodyPr>
          <a:lstStyle/>
          <a:p>
            <a:r>
              <a:rPr lang="es-CL" sz="2800"/>
              <a:t>Arquitectura de microservicios </a:t>
            </a:r>
          </a:p>
        </p:txBody>
      </p:sp>
      <p:sp>
        <p:nvSpPr>
          <p:cNvPr id="12" name="Round Diagonal Corner Rectangle 11">
            <a:extLst>
              <a:ext uri="{FF2B5EF4-FFF2-40B4-BE49-F238E27FC236}">
                <a16:creationId xmlns:a16="http://schemas.microsoft.com/office/drawing/2014/main" id="{E4B7B3E3-827A-48BE-AD67-A57C45AA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3270A0F-6D72-5970-1DA9-216D7BA38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88" y="1386262"/>
            <a:ext cx="6112382" cy="408001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7E4BB6E-052F-A42D-D09F-3683091D5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6041" y="2249487"/>
            <a:ext cx="3281004" cy="35417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dirty="0"/>
              <a:t>cumple una función específica y se comunica a través del </a:t>
            </a:r>
            <a:r>
              <a:rPr lang="es-CL" b="1" dirty="0"/>
              <a:t>API Gateway</a:t>
            </a:r>
            <a:r>
              <a:rPr lang="es-CL" dirty="0"/>
              <a:t>, que centraliza las solicitudes del frontend y gestiona seguridad, autenticación y balanceo de carga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15911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DB72F-206D-33B2-C342-0B068E78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s-CL" dirty="0"/>
              <a:t>Esquemas de comunicaciones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1E7D645-9449-7F0F-D161-3222F4303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1" y="2459280"/>
            <a:ext cx="4689234" cy="313006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5A41C6D-9417-793C-4DF9-AC6411C52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727" y="2249487"/>
            <a:ext cx="4710683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Este modelo asegura que los servicios puedan intercambiar información de manera confiable, incluso ante fallos, manteniendo la trazabilidad de cada donación y optimizando la coordinación entre logística y necesidades.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816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537AC-1FDD-3965-455A-CDC8C219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s-CL" dirty="0"/>
              <a:t>Arquitectura y contenedores  </a:t>
            </a:r>
          </a:p>
        </p:txBody>
      </p:sp>
      <p:pic>
        <p:nvPicPr>
          <p:cNvPr id="7" name="Graphic 6" descr="portátil seguro">
            <a:extLst>
              <a:ext uri="{FF2B5EF4-FFF2-40B4-BE49-F238E27FC236}">
                <a16:creationId xmlns:a16="http://schemas.microsoft.com/office/drawing/2014/main" id="{25FBAD4F-B80D-9C70-60A0-345A10B16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411" y="2277013"/>
            <a:ext cx="3494597" cy="34945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613868-F0B5-4BD7-963E-DBAB2EEC7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579" y="2249487"/>
            <a:ext cx="6012832" cy="354171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s-CL" dirty="0"/>
              <a:t>Microservicios en </a:t>
            </a:r>
            <a:r>
              <a:rPr lang="es-CL" b="1" dirty="0"/>
              <a:t>Docker</a:t>
            </a:r>
            <a:r>
              <a:rPr lang="es-CL" dirty="0"/>
              <a:t>.</a:t>
            </a:r>
          </a:p>
          <a:p>
            <a:pPr>
              <a:buFontTx/>
              <a:buChar char="-"/>
            </a:pPr>
            <a:r>
              <a:rPr lang="es-MX" dirty="0"/>
              <a:t>Orquestación con </a:t>
            </a:r>
            <a:r>
              <a:rPr lang="es-MX" b="1" dirty="0"/>
              <a:t>Kubernetes</a:t>
            </a:r>
            <a:r>
              <a:rPr lang="es-MX" dirty="0"/>
              <a:t>: autoescalado, balanceo, recuperación.</a:t>
            </a:r>
          </a:p>
          <a:p>
            <a:pPr>
              <a:buFontTx/>
              <a:buChar char="-"/>
            </a:pPr>
            <a:r>
              <a:rPr lang="es-CL" dirty="0"/>
              <a:t>Seguridad: </a:t>
            </a:r>
            <a:r>
              <a:rPr lang="es-CL" b="1" dirty="0"/>
              <a:t>OAuth2, TLS, IAM</a:t>
            </a:r>
            <a:r>
              <a:rPr lang="es-CL" dirty="0"/>
              <a:t>.</a:t>
            </a:r>
          </a:p>
          <a:p>
            <a:pPr>
              <a:buFontTx/>
              <a:buChar char="-"/>
            </a:pPr>
            <a:r>
              <a:rPr lang="es-CL" dirty="0"/>
              <a:t>Monitoreo: </a:t>
            </a:r>
            <a:r>
              <a:rPr lang="es-CL" b="1" dirty="0"/>
              <a:t>Prometheus, Grafana</a:t>
            </a:r>
            <a:r>
              <a:rPr lang="es-CL" dirty="0"/>
              <a:t>.</a:t>
            </a:r>
          </a:p>
          <a:p>
            <a:pPr>
              <a:buFontTx/>
              <a:buChar char="-"/>
            </a:pPr>
            <a:r>
              <a:rPr lang="es-CL" dirty="0"/>
              <a:t>Sostenibilidad tecnológica y operativa.</a:t>
            </a:r>
          </a:p>
        </p:txBody>
      </p:sp>
    </p:spTree>
    <p:extLst>
      <p:ext uri="{BB962C8B-B14F-4D97-AF65-F5344CB8AC3E}">
        <p14:creationId xmlns:p14="http://schemas.microsoft.com/office/powerpoint/2010/main" val="2808912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AB9C1-7D1E-4E62-B772-58E3D2048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s-CL" dirty="0"/>
              <a:t>Contenedores de orquestación </a:t>
            </a:r>
            <a:endParaRPr lang="es-CL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96ABEC49-5F91-080B-5701-628382B1E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2056"/>
          <a:stretch>
            <a:fillRect/>
          </a:stretch>
        </p:blipFill>
        <p:spPr>
          <a:xfrm>
            <a:off x="558800" y="2497720"/>
            <a:ext cx="5244752" cy="3047892"/>
          </a:xfrm>
          <a:prstGeom prst="round2DiagRect">
            <a:avLst>
              <a:gd name="adj1" fmla="val 3193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587DE76-BB0A-0EED-556D-699113F9B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479" y="2249487"/>
            <a:ext cx="4844521" cy="3541714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s-CL" dirty="0"/>
              <a:t>Este diagrama ilustra el despliegue de los microservicios dentro de </a:t>
            </a:r>
            <a:r>
              <a:rPr lang="es-CL" b="1" dirty="0"/>
              <a:t>contenedores Docker</a:t>
            </a:r>
            <a:r>
              <a:rPr lang="es-CL" dirty="0"/>
              <a:t>, gestionados por </a:t>
            </a:r>
            <a:r>
              <a:rPr lang="es-CL" b="1" dirty="0"/>
              <a:t>Kubernetes</a:t>
            </a:r>
            <a:r>
              <a:rPr lang="es-CL" dirty="0"/>
              <a:t>. Kubernetes se encarga de la </a:t>
            </a:r>
            <a:r>
              <a:rPr lang="es-CL" b="1" dirty="0"/>
              <a:t>orquestación</a:t>
            </a:r>
            <a:r>
              <a:rPr lang="es-CL" dirty="0"/>
              <a:t>, el </a:t>
            </a:r>
            <a:r>
              <a:rPr lang="es-CL" b="1" dirty="0"/>
              <a:t>autoescalado</a:t>
            </a:r>
            <a:r>
              <a:rPr lang="es-CL" dirty="0"/>
              <a:t>, el </a:t>
            </a:r>
            <a:r>
              <a:rPr lang="es-CL" b="1" dirty="0"/>
              <a:t>balanceo de carga</a:t>
            </a:r>
            <a:r>
              <a:rPr lang="es-CL" dirty="0"/>
              <a:t> y la </a:t>
            </a:r>
            <a:r>
              <a:rPr lang="es-CL" b="1" dirty="0"/>
              <a:t>recuperación automática</a:t>
            </a:r>
            <a:r>
              <a:rPr lang="es-CL" dirty="0"/>
              <a:t> ante fallos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164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40000"/>
              </a:schemeClr>
            </a:gs>
            <a:gs pos="100000">
              <a:schemeClr val="bg2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276684-B387-4740-B467-9F85F45A3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D507BF-1D9C-71F0-A302-97744AFD3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s-CL" dirty="0"/>
              <a:t>Evaluación frente a requerimientos 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B45BEAED-F28D-4BCE-7DDD-B142C516D1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0168265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1009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AED93-5C85-F1A4-C239-CB4F9F358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s-CL" dirty="0"/>
              <a:t>Conclusión </a:t>
            </a:r>
          </a:p>
        </p:txBody>
      </p:sp>
      <p:pic>
        <p:nvPicPr>
          <p:cNvPr id="7" name="Graphic 6" descr="Preguntas">
            <a:extLst>
              <a:ext uri="{FF2B5EF4-FFF2-40B4-BE49-F238E27FC236}">
                <a16:creationId xmlns:a16="http://schemas.microsoft.com/office/drawing/2014/main" id="{CD4FBB24-782B-4FCE-B773-26F86AB4C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411" y="2277013"/>
            <a:ext cx="3494597" cy="34945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B7DCE3-2443-6A54-ADA3-77DC759C4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4579" y="2249486"/>
            <a:ext cx="6012832" cy="3989995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s-MX" sz="1800" dirty="0"/>
              <a:t>La propuesta de Donaton ofrece una </a:t>
            </a:r>
            <a:r>
              <a:rPr lang="es-MX" sz="1800" b="1" dirty="0"/>
              <a:t>solución integral y resiliente</a:t>
            </a:r>
            <a:r>
              <a:rPr lang="es-MX" sz="1800" dirty="0"/>
              <a:t>, preparada para responder en emergencias con eficiencia y transparencia. La arquitectura basada en microservicios asegura </a:t>
            </a:r>
            <a:r>
              <a:rPr lang="es-MX" sz="1800" b="1" dirty="0"/>
              <a:t>escalabilidad, seguridad y sostenibilidad</a:t>
            </a:r>
            <a:r>
              <a:rPr lang="es-MX" sz="1800" dirty="0"/>
              <a:t>, consolidando la confianza de donantes e instituciones.</a:t>
            </a:r>
          </a:p>
          <a:p>
            <a:pPr>
              <a:lnSpc>
                <a:spcPct val="110000"/>
              </a:lnSpc>
            </a:pPr>
            <a:r>
              <a:rPr lang="es-MX" sz="1800" dirty="0"/>
              <a:t>Con una </a:t>
            </a:r>
            <a:r>
              <a:rPr lang="es-MX" sz="1800" b="1" dirty="0"/>
              <a:t>visión de futuro</a:t>
            </a:r>
            <a:r>
              <a:rPr lang="es-MX" sz="1800" dirty="0"/>
              <a:t>, la plataforma está lista para integrar tecnologías como </a:t>
            </a:r>
            <a:r>
              <a:rPr lang="es-MX" sz="1800" b="1" dirty="0"/>
              <a:t>IA y blockchain</a:t>
            </a:r>
            <a:r>
              <a:rPr lang="es-MX" sz="1800" dirty="0"/>
              <a:t>, ampliando la trazabilidad y anticipando necesidades. Además, su diseño modular y automatizado garantiza </a:t>
            </a:r>
            <a:r>
              <a:rPr lang="es-MX" sz="1800" b="1" dirty="0"/>
              <a:t>eficiencia operativa y mayor cobertura social</a:t>
            </a:r>
            <a:r>
              <a:rPr lang="es-MX" sz="1800" dirty="0"/>
              <a:t>, posicionando a Donaton como base tecnológica para la </a:t>
            </a:r>
            <a:r>
              <a:rPr lang="es-MX" sz="1800" b="1" dirty="0"/>
              <a:t>transformación digital en la gestión humanitaria</a:t>
            </a:r>
            <a:endParaRPr lang="es-MX" sz="1800" dirty="0"/>
          </a:p>
          <a:p>
            <a:pPr marL="0" indent="0">
              <a:lnSpc>
                <a:spcPct val="110000"/>
              </a:lnSpc>
              <a:buNone/>
            </a:pPr>
            <a:endParaRPr lang="es-CL" sz="1500" dirty="0"/>
          </a:p>
        </p:txBody>
      </p:sp>
    </p:spTree>
    <p:extLst>
      <p:ext uri="{BB962C8B-B14F-4D97-AF65-F5344CB8AC3E}">
        <p14:creationId xmlns:p14="http://schemas.microsoft.com/office/powerpoint/2010/main" val="2209607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85</TotalTime>
  <Words>758</Words>
  <Application>Microsoft Office PowerPoint</Application>
  <PresentationFormat>Panorámica</PresentationFormat>
  <Paragraphs>52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Circuito</vt:lpstr>
      <vt:lpstr>Proyecto Donaton </vt:lpstr>
      <vt:lpstr>Contextualización del caso </vt:lpstr>
      <vt:lpstr>Selección de patrones de arquitectura </vt:lpstr>
      <vt:lpstr>Justificación de patrones </vt:lpstr>
      <vt:lpstr>Comunicación de microservicios </vt:lpstr>
      <vt:lpstr>Arquitectura de microservicios </vt:lpstr>
      <vt:lpstr>Esquemas de comunicaciones</vt:lpstr>
      <vt:lpstr>Arquitectura y contenedores  </vt:lpstr>
      <vt:lpstr>Contenedores de orquestación </vt:lpstr>
      <vt:lpstr>Evaluación frente a requerimientos 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MAXIMILIANO ALEJANDRO RUBILAR PEREZ</dc:creator>
  <cp:lastModifiedBy>CAMILO IGNACIO LAVADO GARCIA</cp:lastModifiedBy>
  <cp:revision>2</cp:revision>
  <dcterms:created xsi:type="dcterms:W3CDTF">2026-04-23T04:28:43Z</dcterms:created>
  <dcterms:modified xsi:type="dcterms:W3CDTF">2026-04-23T05:56:12Z</dcterms:modified>
</cp:coreProperties>
</file>